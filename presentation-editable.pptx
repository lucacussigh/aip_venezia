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Cussigh" userId="368af960-6488-4d64-b4ce-638e2566cd2b" providerId="ADAL" clId="{F11DC404-7128-42C3-A4C0-983A4FB681AD}"/>
    <pc:docChg chg="modSld">
      <pc:chgData name="Luca Cussigh" userId="368af960-6488-4d64-b4ce-638e2566cd2b" providerId="ADAL" clId="{F11DC404-7128-42C3-A4C0-983A4FB681AD}" dt="2026-09-08T13:22:55.934" v="11" actId="1076"/>
      <pc:docMkLst>
        <pc:docMk/>
      </pc:docMkLst>
      <pc:sldChg chg="modSp mod">
        <pc:chgData name="Luca Cussigh" userId="368af960-6488-4d64-b4ce-638e2566cd2b" providerId="ADAL" clId="{F11DC404-7128-42C3-A4C0-983A4FB681AD}" dt="2026-09-08T13:22:55.934" v="11" actId="1076"/>
        <pc:sldMkLst>
          <pc:docMk/>
          <pc:sldMk cId="0" sldId="265"/>
        </pc:sldMkLst>
        <pc:spChg chg="mod">
          <ac:chgData name="Luca Cussigh" userId="368af960-6488-4d64-b4ce-638e2566cd2b" providerId="ADAL" clId="{F11DC404-7128-42C3-A4C0-983A4FB681AD}" dt="2026-09-08T13:22:53.026" v="10" actId="20577"/>
          <ac:spMkLst>
            <pc:docMk/>
            <pc:sldMk cId="0" sldId="265"/>
            <ac:spMk id="4" creationId="{00000000-0000-0000-0000-000000000000}"/>
          </ac:spMkLst>
        </pc:spChg>
        <pc:picChg chg="mod">
          <ac:chgData name="Luca Cussigh" userId="368af960-6488-4d64-b4ce-638e2566cd2b" providerId="ADAL" clId="{F11DC404-7128-42C3-A4C0-983A4FB681AD}" dt="2026-09-08T13:22:55.934" v="11" actId="1076"/>
          <ac:picMkLst>
            <pc:docMk/>
            <pc:sldMk cId="0" sldId="265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1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 volti ai gruppi: una mappatura multidimensionale della rappresentazione percettiva dei gruppi sociali nell'infanzia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 Cussigh, Luciana Carraro, Luigi Castelli</a:t>
            </a:r>
            <a:endParaRPr lang="en-US" sz="1900" dirty="0"/>
          </a:p>
        </p:txBody>
      </p:sp>
      <p:pic>
        <p:nvPicPr>
          <p:cNvPr id="5" name="Image 0" descr="C:\Users\utente\OneDrive - Università degli Studi di Padova\Desktop\AIP_Pisa\Images\Marchio_unipd202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417320"/>
            <a:ext cx="5184648" cy="1892808"/>
          </a:xfrm>
          <a:prstGeom prst="rect">
            <a:avLst/>
          </a:prstGeom>
        </p:spPr>
      </p:pic>
      <p:pic>
        <p:nvPicPr>
          <p:cNvPr id="6" name="Image 1" descr="C:\Users\utente\OneDrive - Università degli Studi di Padova\Desktop\AIP_Pisa\Images\logo-dpps_nob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417320"/>
            <a:ext cx="518464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https://www.europarl.europa.eu/doceo/document/E-10-2025-000294-ASW_EN.html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6479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"In 2023, Member States issued more than 3.7 million residence permits to non-EUcitizens from more than 170 countries."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Social Categorization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categorization changes how people perceive, evaluate, remember, and treatone another (Amodio &amp; Cikara, 2021; Levy et al., 2023; Rhodes &amp; Baron, 2019)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Outgroup Homogeneity Effect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Emergence of Ingroup favoritism vs. Childhood OHE• Ingroup favoritism: Strong evidence for ingroup preferences and visual specialization for ingroup faces (Kelly et al., 2009; Quinn et al., 2016).• OHE in childhoood: No consolidated evidence for the Outgroup Homogeneity Effect (OHE). Why?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Spontaneous bottom-up categorization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Multidimensional Scaling (MDS)• Face-Space Theory (Valentine et al., 2016): Faces exist in a continuous multidimensional perceptual space• Goal: Visually map whether faces from different ethnic groups are spontaneously perceived as more similar to one another (OHE), and how this changes across age groups.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Multi-group context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4-group context: Italian majority-ingroup + 3 distinct ethnic minority-outgroups (African Descent, East Asian, Andean)• 20 faces per gender group (5 per ethnic group)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The AI generated-stimuli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Morphologies controlled using an emotional filter and FaceNet embeddings to ensure similar perceptual distinctiveness across groups</a:t>
            </a:r>
            <a:endParaRPr lang="en-US" sz="1900" dirty="0"/>
          </a:p>
        </p:txBody>
      </p:sp>
      <p:pic>
        <p:nvPicPr>
          <p:cNvPr id="5" name="Image 0" descr="C:\Users\utente\OneDrive - Università degli Studi di Padova\Desktop\AIP_Pisa\Images\Immagi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2510028" cy="1892808"/>
          </a:xfrm>
          <a:prstGeom prst="rect">
            <a:avLst/>
          </a:prstGeom>
        </p:spPr>
      </p:pic>
      <p:pic>
        <p:nvPicPr>
          <p:cNvPr id="6" name="Image 1" descr="C:\Users\utente\OneDrive - Università degli Studi di Padova\Desktop\AIP_Pisa\Images\Immagi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40" y="1417320"/>
            <a:ext cx="2510028" cy="1892808"/>
          </a:xfrm>
          <a:prstGeom prst="rect">
            <a:avLst/>
          </a:prstGeom>
        </p:spPr>
      </p:pic>
      <p:pic>
        <p:nvPicPr>
          <p:cNvPr id="7" name="Image 2" descr="C:\Users\utente\OneDrive - Università degli Studi di Padova\Desktop\AIP_Pisa\Images\Immagi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417320"/>
            <a:ext cx="2510028" cy="1892808"/>
          </a:xfrm>
          <a:prstGeom prst="rect">
            <a:avLst/>
          </a:prstGeom>
        </p:spPr>
      </p:pic>
      <p:pic>
        <p:nvPicPr>
          <p:cNvPr id="8" name="Image 3" descr="C:\Users\utente\OneDrive - Università degli Studi di Padova\Desktop\AIP_Pisa\Images\Immagi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1417320"/>
            <a:ext cx="251002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Face Similarity Task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C:\Users\utente\OneDrive - Università degli Studi di Padova\Desktop\AIP_Pisa\Images\FS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401568" cy="1892808"/>
          </a:xfrm>
          <a:prstGeom prst="rect">
            <a:avLst/>
          </a:prstGeom>
        </p:spPr>
      </p:pic>
      <p:pic>
        <p:nvPicPr>
          <p:cNvPr id="5" name="Image 1" descr="C:\Users\utente\OneDrive - Università degli Studi di Padova\Desktop\AIP_Pisa\Images\FS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417320"/>
            <a:ext cx="3401568" cy="1892808"/>
          </a:xfrm>
          <a:prstGeom prst="rect">
            <a:avLst/>
          </a:prstGeom>
        </p:spPr>
      </p:pic>
      <p:pic>
        <p:nvPicPr>
          <p:cNvPr id="6" name="Image 2" descr="C:\Users\utente\OneDrive - Università degli Studi di Padova\Desktop\AIP_Pisa\Images\FST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417320"/>
            <a:ext cx="340156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Face Similarity Task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Incomplete block design• 66 random dyads presented sequentially (3 faces per group)</a:t>
            </a:r>
            <a:endParaRPr lang="en-US" sz="1900" dirty="0"/>
          </a:p>
        </p:txBody>
      </p:sp>
      <p:pic>
        <p:nvPicPr>
          <p:cNvPr id="5" name="Image 0" descr="C:\Users\utente\OneDrive - Università degli Studi di Padova\Desktop\AIP_Pisa\Images\03_Heatmap_Fem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Trait Attribution Task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1900" dirty="0">
              <a:solidFill>
                <a:srgbClr val="13231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endParaRPr lang="en-US" sz="1900" dirty="0">
              <a:solidFill>
                <a:srgbClr val="13231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4 positive (Buoni, Belli, Simpatici, Puliti) and 6 negative (Cattivi, Brutti, Antipatici, Sporchi) traits• 5 possible triads</a:t>
            </a:r>
            <a:endParaRPr lang="en-US" sz="1900" dirty="0"/>
          </a:p>
        </p:txBody>
      </p:sp>
      <p:pic>
        <p:nvPicPr>
          <p:cNvPr id="5" name="Image 0" descr="C:\Users\utente\OneDrive - Università degli Studi di Padova\Desktop\AIP_Pisa\Images\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568" y="551219"/>
            <a:ext cx="5751342" cy="3113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Pre-registered Study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Sample:• N=249, M=5.17 years, SD=1.23, 134 boys (53.8%) and 115 girls (46.2%)• Age range: 3 to 8 years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MDS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MDS visualization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C:\Users\utente\OneDrive - Università degli Studi di Padova\Desktop\AIP_Pisa\Images\Immagin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# Children spontaneously visually categorized stimuli into ethnic groups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Outgroup Homogenity Effect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Ellipsoid's volume:</a:t>
            </a:r>
            <a:endParaRPr lang="en-US" sz="1900" dirty="0"/>
          </a:p>
        </p:txBody>
      </p:sp>
      <p:pic>
        <p:nvPicPr>
          <p:cNvPr id="5" name="Image 0" descr="C:\Users\utente\OneDrive - Università degli Studi di Padova\Desktop\AIP_Pisa\Images\Figure_Volume_3D_AP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# No support for OHE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LMM - Developmental Trajectories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LMM - Developmental Trajectories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C:\Users\utente\OneDrive - Università degli Studi di Padova\Desktop\AIP_Pisa\Images\04_plot_interazione_macro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# Intergroup dissimilarity judgments increased with age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Ingroup favoritism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C:\Users\utente\OneDrive - Università degli Studi di Padova\Desktop\AIP_Pisa\Images\04_plot_slopes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# Support for ingroup favoritism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## Children spontaneously visually categorize stimuli into ethnic groups• ## No support for OHE• ## Intergroup dissimilarity judgments might increase with age• ## Ingroup favoritism supported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directions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835640" cy="4892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323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Individual differences: Exploring how child-level factors (e.g., social contact, intergroup attitudes) shape perceptual dispersion.• Task &amp; contextual effects: Investigating whether the number and composition of groups alter face-space geometry.• Longitudinal trajectories: Tracking individual shifts in categorization and outgroup perceptual boundaries over time.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 🫰​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1323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AIP Pisa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10972800" cy="0"/>
          </a:xfrm>
          <a:prstGeom prst="line">
            <a:avLst/>
          </a:prstGeom>
          <a:noFill/>
          <a:ln w="15240">
            <a:solidFill>
              <a:srgbClr val="B749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C:\Users\utente\OneDrive - Università degli Studi di Padova\Desktop\AIP_Pisa\Images\QRcode_Pi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0533888" cy="1892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71</Paragraphs>
  <Slides>25</Slides>
  <Notes>25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Universita degli Studi di Padova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 volti ai gruppi</dc:title>
  <dc:subject>AIP Pisa presentation</dc:subject>
  <dc:creator>Luca Cussigh</dc:creator>
  <cp:lastModifiedBy>Luca Cussigh</cp:lastModifiedBy>
  <cp:revision>1</cp:revision>
  <dcterms:created xsi:type="dcterms:W3CDTF">2026-09-08T13:21:13Z</dcterms:created>
  <dcterms:modified xsi:type="dcterms:W3CDTF">2026-09-08T13:22:58Z</dcterms:modified>
</cp:coreProperties>
</file>